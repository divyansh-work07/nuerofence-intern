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5E0C1"/>
                </a:solidFill>
              </a:defRPr>
            </a:pPr>
            <a:r>
              <a:t>MODEL ARTIFACT INTAKE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6EEF8"/>
                </a:solidFill>
              </a:defRPr>
            </a:pPr>
            <a:r>
              <a:t>NeuroFence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ADBED1"/>
                </a:solidFill>
              </a:defRPr>
            </a:pPr>
            <a:r>
              <a:t>LLM Weight Poisoning &amp; Backdoor Scanner</a:t>
            </a:r>
          </a:p>
          <a:p>
            <a:pPr>
              <a:spcAft>
                <a:spcPts val="1500"/>
              </a:spcAft>
              <a:defRPr sz="2000">
                <a:solidFill>
                  <a:srgbClr val="ADBED1"/>
                </a:solidFill>
              </a:defRPr>
            </a:pPr>
            <a:r>
              <a:t>Cyber Security Internship Project</a:t>
            </a:r>
          </a:p>
          <a:p>
            <a:pPr>
              <a:spcAft>
                <a:spcPts val="1500"/>
              </a:spcAft>
              <a:defRPr sz="2000">
                <a:solidFill>
                  <a:srgbClr val="ADBED1"/>
                </a:solidFill>
              </a:defRPr>
            </a:pPr>
            <a:r>
              <a:t>05 Sep – 05 Oct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5E0C1"/>
                </a:solidFill>
              </a:defRPr>
            </a:pPr>
            <a:r>
              <a:t>WHY 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6EEF8"/>
                </a:solidFill>
              </a:defRPr>
            </a:pPr>
            <a:r>
              <a:t>The intake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ADBED1"/>
                </a:solidFill>
              </a:defRPr>
            </a:pPr>
            <a:r>
              <a:t>Model files can be altered, malformed or difficult to verify.</a:t>
            </a:r>
          </a:p>
          <a:p>
            <a:pPr>
              <a:spcAft>
                <a:spcPts val="1500"/>
              </a:spcAft>
              <a:defRPr sz="2000">
                <a:solidFill>
                  <a:srgbClr val="ADBED1"/>
                </a:solidFill>
              </a:defRPr>
            </a:pPr>
            <a:r>
              <a:t>Untrusted artifacts should not be executed during initial review.</a:t>
            </a:r>
          </a:p>
          <a:p>
            <a:pPr>
              <a:spcAft>
                <a:spcPts val="1500"/>
              </a:spcAft>
              <a:defRPr sz="2000">
                <a:solidFill>
                  <a:srgbClr val="ADBED1"/>
                </a:solidFill>
              </a:defRPr>
            </a:pPr>
            <a:r>
              <a:t>A clean static scan cannot prove a backdoor is absent.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5E0C1"/>
                </a:solidFill>
              </a:defRPr>
            </a:pPr>
            <a:r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6EEF8"/>
                </a:solidFill>
              </a:defRPr>
            </a:pPr>
            <a:r>
              <a:t>What the prototype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ADBED1"/>
                </a:solidFill>
              </a:defRPr>
            </a:pPr>
            <a:r>
              <a:t>Calculates SHA-256 for every upload.</a:t>
            </a:r>
          </a:p>
          <a:p>
            <a:pPr>
              <a:spcAft>
                <a:spcPts val="1500"/>
              </a:spcAft>
              <a:defRPr sz="2000">
                <a:solidFill>
                  <a:srgbClr val="ADBED1"/>
                </a:solidFill>
              </a:defRPr>
            </a:pPr>
            <a:r>
              <a:t>Inspects safe NPZ and safetensors content.</a:t>
            </a:r>
          </a:p>
          <a:p>
            <a:pPr>
              <a:spcAft>
                <a:spcPts val="1500"/>
              </a:spcAft>
              <a:defRPr sz="2000">
                <a:solidFill>
                  <a:srgbClr val="ADBED1"/>
                </a:solidFill>
              </a:defRPr>
            </a:pPr>
            <a:r>
              <a:t>Flags non-finite values, unusual magnitudes, archive hazards and selected config keys.</a:t>
            </a:r>
          </a:p>
          <a:p>
            <a:pPr>
              <a:spcAft>
                <a:spcPts val="1500"/>
              </a:spcAft>
              <a:defRPr sz="2000">
                <a:solidFill>
                  <a:srgbClr val="ADBED1"/>
                </a:solidFill>
              </a:defRPr>
            </a:pPr>
            <a:r>
              <a:t>Stores history and produces downloadable JSON reports.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5E0C1"/>
                </a:solidFill>
              </a:defRPr>
            </a:pPr>
            <a:r>
              <a:t>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6EEF8"/>
                </a:solidFill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ADBED1"/>
                </a:solidFill>
              </a:defRPr>
            </a:pPr>
            <a:r>
              <a:t>Browser dashboard → FastAPI upload API → static scanner → heuristic risk engine</a:t>
            </a:r>
          </a:p>
          <a:p>
            <a:pPr>
              <a:spcAft>
                <a:spcPts val="1500"/>
              </a:spcAft>
              <a:defRPr sz="2000">
                <a:solidFill>
                  <a:srgbClr val="ADBED1"/>
                </a:solidFill>
              </a:defRPr>
            </a:pPr>
          </a:p>
          <a:p>
            <a:pPr>
              <a:spcAft>
                <a:spcPts val="1500"/>
              </a:spcAft>
              <a:defRPr sz="2000">
                <a:solidFill>
                  <a:srgbClr val="ADBED1"/>
                </a:solidFill>
              </a:defRPr>
            </a:pPr>
            <a:r>
              <a:t>SQLite scan history · JSON report · optional PDF helper</a:t>
            </a:r>
          </a:p>
          <a:p>
            <a:pPr>
              <a:spcAft>
                <a:spcPts val="1500"/>
              </a:spcAft>
              <a:defRPr sz="2000">
                <a:solidFill>
                  <a:srgbClr val="ADBED1"/>
                </a:solidFill>
              </a:defRPr>
            </a:pPr>
          </a:p>
          <a:p>
            <a:pPr>
              <a:spcAft>
                <a:spcPts val="1500"/>
              </a:spcAft>
              <a:defRPr sz="2000">
                <a:solidFill>
                  <a:srgbClr val="ADBED1"/>
                </a:solidFill>
              </a:defRPr>
            </a:pPr>
            <a:r>
              <a:t>Temporary upload is removed after scanning.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5E0C1"/>
                </a:solidFill>
              </a:defRPr>
            </a:pPr>
            <a:r>
              <a:t>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6EEF8"/>
                </a:solidFill>
              </a:defRPr>
            </a:pPr>
            <a:r>
              <a:t>Static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ADBED1"/>
                </a:solidFill>
              </a:defRPr>
            </a:pPr>
            <a:r>
              <a:t>File identity: SHA-256, size and format</a:t>
            </a:r>
          </a:p>
          <a:p>
            <a:pPr>
              <a:spcAft>
                <a:spcPts val="1500"/>
              </a:spcAft>
              <a:defRPr sz="2000">
                <a:solidFill>
                  <a:srgbClr val="ADBED1"/>
                </a:solidFill>
              </a:defRPr>
            </a:pPr>
            <a:r>
              <a:t>Tensor evidence: shapes, dtypes, extrema, mean, standard deviation and zero fraction</a:t>
            </a:r>
          </a:p>
          <a:p>
            <a:pPr>
              <a:spcAft>
                <a:spcPts val="1500"/>
              </a:spcAft>
              <a:defRPr sz="2000">
                <a:solidFill>
                  <a:srgbClr val="ADBED1"/>
                </a:solidFill>
              </a:defRPr>
            </a:pPr>
            <a:r>
              <a:t>Container evidence: ZIP member paths and compression ratios</a:t>
            </a:r>
          </a:p>
          <a:p>
            <a:pPr>
              <a:spcAft>
                <a:spcPts val="1500"/>
              </a:spcAft>
              <a:defRPr sz="2000">
                <a:solidFill>
                  <a:srgbClr val="ADBED1"/>
                </a:solidFill>
              </a:defRPr>
            </a:pPr>
            <a:r>
              <a:t>Pickle formats are flagged and never loaded.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5E0C1"/>
                </a:solidFill>
              </a:defRPr>
            </a:pPr>
            <a:r>
              <a:t>DECISION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6EEF8"/>
                </a:solidFill>
              </a:defRPr>
            </a:pPr>
            <a:r>
              <a:t>Risk score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ADBED1"/>
                </a:solidFill>
              </a:defRPr>
            </a:pPr>
            <a:r>
              <a:t>Severity points: LOW 5 · MEDIUM 18 · HIGH 35 · CRITICAL 50</a:t>
            </a:r>
          </a:p>
          <a:p>
            <a:pPr>
              <a:spcAft>
                <a:spcPts val="1500"/>
              </a:spcAft>
              <a:defRPr sz="2000">
                <a:solidFill>
                  <a:srgbClr val="ADBED1"/>
                </a:solidFill>
              </a:defRPr>
            </a:pPr>
          </a:p>
          <a:p>
            <a:pPr>
              <a:spcAft>
                <a:spcPts val="1500"/>
              </a:spcAft>
              <a:defRPr sz="2000">
                <a:solidFill>
                  <a:srgbClr val="ADBED1"/>
                </a:solidFill>
              </a:defRPr>
            </a:pPr>
            <a:r>
              <a:t>Bands: LOW &lt;20 · MEDIUM 20–49 · HIGH 50–74 · CRITICAL ≥75</a:t>
            </a:r>
          </a:p>
          <a:p>
            <a:pPr>
              <a:spcAft>
                <a:spcPts val="1500"/>
              </a:spcAft>
              <a:defRPr sz="2000">
                <a:solidFill>
                  <a:srgbClr val="ADBED1"/>
                </a:solidFill>
              </a:defRPr>
            </a:pPr>
          </a:p>
          <a:p>
            <a:pPr>
              <a:spcAft>
                <a:spcPts val="1500"/>
              </a:spcAft>
              <a:defRPr sz="2000">
                <a:solidFill>
                  <a:srgbClr val="ADBED1"/>
                </a:solidFill>
              </a:defRPr>
            </a:pPr>
            <a:r>
              <a:t>The score is a heuristic, not a probability or verdict.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5E0C1"/>
                </a:solidFill>
              </a:defRPr>
            </a:pPr>
            <a:r>
              <a:t>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6EEF8"/>
                </a:solidFill>
              </a:defRPr>
            </a:pPr>
            <a:r>
              <a:t>Synthetic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ADBED1"/>
                </a:solidFill>
              </a:defRPr>
            </a:pPr>
            <a:r>
              <a:t>Clean fixture: finite synthetic arrays; expected LOW risk.</a:t>
            </a:r>
          </a:p>
          <a:p>
            <a:pPr>
              <a:spcAft>
                <a:spcPts val="1500"/>
              </a:spcAft>
              <a:defRPr sz="2000">
                <a:solidFill>
                  <a:srgbClr val="ADBED1"/>
                </a:solidFill>
              </a:defRPr>
            </a:pPr>
            <a:r>
              <a:t>Anomalous fixture: planted NaN and magnitude 250; expected HIGH risk.</a:t>
            </a:r>
          </a:p>
          <a:p>
            <a:pPr>
              <a:spcAft>
                <a:spcPts val="1500"/>
              </a:spcAft>
              <a:defRPr sz="2000">
                <a:solidFill>
                  <a:srgbClr val="ADBED1"/>
                </a:solidFill>
              </a:defRPr>
            </a:pPr>
            <a:r>
              <a:t>Pickle placeholder: flagged by extension without loading.</a:t>
            </a:r>
          </a:p>
          <a:p>
            <a:pPr>
              <a:spcAft>
                <a:spcPts val="1500"/>
              </a:spcAft>
              <a:defRPr sz="2000">
                <a:solidFill>
                  <a:srgbClr val="ADBED1"/>
                </a:solidFill>
              </a:defRPr>
            </a:pPr>
          </a:p>
          <a:p>
            <a:pPr>
              <a:spcAft>
                <a:spcPts val="1500"/>
              </a:spcAft>
              <a:defRPr sz="2000">
                <a:solidFill>
                  <a:srgbClr val="ADBED1"/>
                </a:solidFill>
              </a:defRPr>
            </a:pPr>
            <a:r>
              <a:t>These examples show specific checks, not general backdoor detection.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5E0C1"/>
                </a:solidFill>
              </a:defRPr>
            </a:pPr>
            <a:r>
              <a:t>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6EEF8"/>
                </a:solidFill>
              </a:defRPr>
            </a:pPr>
            <a:r>
              <a:t>What the evidence means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ADBED1"/>
                </a:solidFill>
              </a:defRPr>
            </a:pPr>
            <a:r>
              <a:t>An anomaly is an indicator. Compare it with an authenticated, architecture-matched checkpoint.</a:t>
            </a:r>
          </a:p>
          <a:p>
            <a:pPr>
              <a:spcAft>
                <a:spcPts val="1500"/>
              </a:spcAft>
              <a:defRPr sz="2000">
                <a:solidFill>
                  <a:srgbClr val="ADBED1"/>
                </a:solidFill>
              </a:defRPr>
            </a:pPr>
          </a:p>
          <a:p>
            <a:pPr>
              <a:spcAft>
                <a:spcPts val="1500"/>
              </a:spcAft>
              <a:defRPr sz="2000">
                <a:solidFill>
                  <a:srgbClr val="ADBED1"/>
                </a:solidFill>
              </a:defRPr>
            </a:pPr>
            <a:r>
              <a:t>Global statistics can miss crafted backdoors. Legitimate models can also exceed conservative thresholds.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5E0C1"/>
                </a:solidFill>
              </a:defRPr>
            </a:pPr>
            <a:r>
              <a:t>SECURE BY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6EEF8"/>
                </a:solidFill>
              </a:defRPr>
            </a:pPr>
            <a:r>
              <a:t>Safety boundaries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ADBED1"/>
                </a:solidFill>
              </a:defRPr>
            </a:pPr>
            <a:r>
              <a:t>No arbitrary code execution. No pickle deserialization.</a:t>
            </a:r>
          </a:p>
          <a:p>
            <a:pPr>
              <a:spcAft>
                <a:spcPts val="1500"/>
              </a:spcAft>
              <a:defRPr sz="2000">
                <a:solidFill>
                  <a:srgbClr val="ADBED1"/>
                </a:solidFill>
              </a:defRPr>
            </a:pPr>
            <a:r>
              <a:t>NPZ loaded with allow_pickle=False. Upload limit: 512 MiB.</a:t>
            </a:r>
          </a:p>
          <a:p>
            <a:pPr>
              <a:spcAft>
                <a:spcPts val="1500"/>
              </a:spcAft>
              <a:defRPr sz="2000">
                <a:solidFill>
                  <a:srgbClr val="ADBED1"/>
                </a:solidFill>
              </a:defRPr>
            </a:pPr>
            <a:r>
              <a:t>Use localhost; isolate parser workloads before broader deployment.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5E0C1"/>
                </a:solidFill>
              </a:defRPr>
            </a:pPr>
            <a: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6EEF8"/>
                </a:solidFill>
              </a:defRPr>
            </a:pPr>
            <a: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ADBED1"/>
                </a:solidFill>
              </a:defRPr>
            </a:pPr>
            <a:r>
              <a:t>Add signed baseline comparison.</a:t>
            </a:r>
          </a:p>
          <a:p>
            <a:pPr>
              <a:spcAft>
                <a:spcPts val="1500"/>
              </a:spcAft>
              <a:defRPr sz="2000">
                <a:solidFill>
                  <a:srgbClr val="ADBED1"/>
                </a:solidFill>
              </a:defRPr>
            </a:pPr>
            <a:r>
              <a:t>Add a resource-limited inference sandbox and reviewed behavioral test suite.</a:t>
            </a:r>
          </a:p>
          <a:p>
            <a:pPr>
              <a:spcAft>
                <a:spcPts val="1500"/>
              </a:spcAft>
              <a:defRPr sz="2000">
                <a:solidFill>
                  <a:srgbClr val="ADBED1"/>
                </a:solidFill>
              </a:defRPr>
            </a:pPr>
            <a:r>
              <a:t>Calibrate thresholds on labeled models.</a:t>
            </a:r>
          </a:p>
          <a:p>
            <a:pPr>
              <a:spcAft>
                <a:spcPts val="1500"/>
              </a:spcAft>
              <a:defRPr sz="2000">
                <a:solidFill>
                  <a:srgbClr val="ADBED1"/>
                </a:solidFill>
              </a:defRPr>
            </a:pPr>
            <a:r>
              <a:t>Add authentication, retention controls and deployment hardening.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5E0C1"/>
                </a:solidFill>
              </a:defRPr>
            </a:pPr>
            <a:r>
              <a:t>LIVE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6EEF8"/>
                </a:solidFill>
              </a:defRPr>
            </a:pPr>
            <a:r>
              <a:t>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ADBED1"/>
                </a:solidFill>
              </a:defRPr>
            </a:pPr>
            <a:r>
              <a:t>1. Start with run_windows.bat.</a:t>
            </a:r>
          </a:p>
          <a:p>
            <a:pPr>
              <a:spcAft>
                <a:spcPts val="1500"/>
              </a:spcAft>
              <a:defRPr sz="2000">
                <a:solidFill>
                  <a:srgbClr val="ADBED1"/>
                </a:solidFill>
              </a:defRPr>
            </a:pPr>
            <a:r>
              <a:t>2. Open http://127.0.0.1:8000.</a:t>
            </a:r>
          </a:p>
          <a:p>
            <a:pPr>
              <a:spcAft>
                <a:spcPts val="1500"/>
              </a:spcAft>
              <a:defRPr sz="2000">
                <a:solidFill>
                  <a:srgbClr val="ADBED1"/>
                </a:solidFill>
              </a:defRPr>
            </a:pPr>
            <a:r>
              <a:t>3. Scan demo/clean_demo.npz.</a:t>
            </a:r>
          </a:p>
          <a:p>
            <a:pPr>
              <a:spcAft>
                <a:spcPts val="1500"/>
              </a:spcAft>
              <a:defRPr sz="2000">
                <a:solidFill>
                  <a:srgbClr val="ADBED1"/>
                </a:solidFill>
              </a:defRPr>
            </a:pPr>
            <a:r>
              <a:t>4. Scan demo/anomalous_demo.npz.</a:t>
            </a:r>
          </a:p>
          <a:p>
            <a:pPr>
              <a:spcAft>
                <a:spcPts val="1500"/>
              </a:spcAft>
              <a:defRPr sz="2000">
                <a:solidFill>
                  <a:srgbClr val="ADBED1"/>
                </a:solidFill>
              </a:defRPr>
            </a:pPr>
            <a:r>
              <a:t>5. Compare findings and download JSON.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5E0C1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6EEF8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ADBED1"/>
                </a:solidFill>
              </a:defRPr>
            </a:pPr>
            <a:r>
              <a:t>NeuroFence provides a safe first-pass model intake workflow with evidence, history and reports.</a:t>
            </a:r>
          </a:p>
          <a:p>
            <a:pPr>
              <a:spcAft>
                <a:spcPts val="1500"/>
              </a:spcAft>
              <a:defRPr sz="2000">
                <a:solidFill>
                  <a:srgbClr val="ADBED1"/>
                </a:solidFill>
              </a:defRPr>
            </a:pPr>
          </a:p>
          <a:p>
            <a:pPr>
              <a:spcAft>
                <a:spcPts val="1500"/>
              </a:spcAft>
              <a:defRPr sz="2000">
                <a:solidFill>
                  <a:srgbClr val="ADBED1"/>
                </a:solidFill>
              </a:defRPr>
            </a:pPr>
            <a:r>
              <a:t>It supports triage; it does not certify model safety.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